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Presentation by Abdullah Khalid</a:t>
            </a:r>
          </a:p>
        </p:txBody>
      </p:sp>
      <p:sp>
        <p:nvSpPr>
          <p:cNvPr id="3" name="Subtitle 2"/>
          <p:cNvSpPr>
            <a:spLocks noGrp="1"/>
          </p:cNvSpPr>
          <p:nvPr>
            <p:ph type="subTitle" idx="1"/>
          </p:nvPr>
        </p:nvSpPr>
        <p:spPr/>
        <p:txBody>
          <a:bodyPr/>
          <a:lstStyle/>
          <a:p>
            <a:r>
              <a:t>Prepared Data Analysis &amp; Insights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p:nvPr>
        </p:nvSpPr>
        <p:spPr/>
        <p:txBody>
          <a:bodyPr/>
          <a:lstStyle/>
          <a:p>
            <a:r>
              <a:t>This project analyzes a sample Sales dataset (50,000 records) covering transactions, customers, and regions. Using SQL, Python, and visualization libraries, we performed data wrangling, exploratory analysis, predictive modeling, and interactive dashboard creation. Results highlight regional sales patterns and a classification model predicting high-value customers with 86% accuracy.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lstStyle/>
          <a:p>
            <a:r>
              <a:t>The project aims to understand sales behavior, identify key drivers of revenue, and predict customer value. Business motivation: enhance decision-making, optimize marketing strategies, and improve forecasting accuracy.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Collection &amp; Wrangling</a:t>
            </a:r>
          </a:p>
        </p:txBody>
      </p:sp>
      <p:sp>
        <p:nvSpPr>
          <p:cNvPr id="3" name="Content Placeholder 2"/>
          <p:cNvSpPr>
            <a:spLocks noGrp="1"/>
          </p:cNvSpPr>
          <p:nvPr>
            <p:ph idx="1"/>
          </p:nvPr>
        </p:nvSpPr>
        <p:spPr/>
        <p:txBody>
          <a:bodyPr/>
          <a:lstStyle/>
          <a:p>
            <a:r>
              <a:t>• Dataset: 50,000 sales transactions (CSV format)</a:t>
            </a:r>
          </a:p>
          <a:p>
            <a:r>
              <a:t>• Key fields: Customer_ID, Region, Product, Sales, Date</a:t>
            </a:r>
          </a:p>
          <a:p>
            <a:r>
              <a:t>• Cleaning steps:</a:t>
            </a:r>
          </a:p>
          <a:p>
            <a:r>
              <a:t>   - Removed duplicates (2%)</a:t>
            </a:r>
          </a:p>
          <a:p>
            <a:r>
              <a:t>   - Handled missing values (imputed 5% with median)</a:t>
            </a:r>
          </a:p>
          <a:p>
            <a:r>
              <a:t>   - Converted dates into year, month, and quarter</a:t>
            </a:r>
          </a:p>
          <a:p>
            <a:r>
              <a:t>   - Standardized categorical variables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Exploratory Data Analysis (EDA)</a:t>
            </a:r>
          </a:p>
        </p:txBody>
      </p:sp>
      <p:sp>
        <p:nvSpPr>
          <p:cNvPr id="3" name="Content Placeholder 2"/>
          <p:cNvSpPr>
            <a:spLocks noGrp="1"/>
          </p:cNvSpPr>
          <p:nvPr>
            <p:ph idx="1"/>
          </p:nvPr>
        </p:nvSpPr>
        <p:spPr/>
        <p:txBody>
          <a:bodyPr/>
          <a:lstStyle/>
          <a:p>
            <a:r>
              <a:t>• Univariate analysis: Sales distribution is right-skewed</a:t>
            </a:r>
          </a:p>
          <a:p>
            <a:r>
              <a:t>• Bivariate analysis: Higher sales in North &amp; West regions</a:t>
            </a:r>
          </a:p>
          <a:p>
            <a:r>
              <a:t>• Correlations: Strong positive correlation between discount and sales volume</a:t>
            </a:r>
          </a:p>
          <a:p>
            <a:r>
              <a:t>• Outlier detection: Identified extreme values in product pricing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Predictive Analysis Methodology</a:t>
            </a:r>
          </a:p>
        </p:txBody>
      </p:sp>
      <p:sp>
        <p:nvSpPr>
          <p:cNvPr id="3" name="Content Placeholder 2"/>
          <p:cNvSpPr>
            <a:spLocks noGrp="1"/>
          </p:cNvSpPr>
          <p:nvPr>
            <p:ph idx="1"/>
          </p:nvPr>
        </p:nvSpPr>
        <p:spPr/>
        <p:txBody>
          <a:bodyPr/>
          <a:lstStyle/>
          <a:p>
            <a:r>
              <a:t>• Task: Predict if a customer is 'High Value' (top 20% revenue)</a:t>
            </a:r>
          </a:p>
          <a:p>
            <a:r>
              <a:t>• Models tested: Logistic Regression, Random Forest, XGBoost</a:t>
            </a:r>
          </a:p>
          <a:p>
            <a:r>
              <a:t>• Evaluation metrics: Accuracy, Precision, Recall, F1-score</a:t>
            </a:r>
          </a:p>
          <a:p>
            <a:r>
              <a:t>• Final Model: Random Forest (max depth=10, n_estimators=200)</a:t>
            </a:r>
          </a:p>
          <a:p>
            <a:r>
              <a:t>• Rationale: Balanced accuracy and interpretability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EDA Visualization Results</a:t>
            </a:r>
          </a:p>
        </p:txBody>
      </p:sp>
      <p:sp>
        <p:nvSpPr>
          <p:cNvPr id="3" name="Content Placeholder 2"/>
          <p:cNvSpPr>
            <a:spLocks noGrp="1"/>
          </p:cNvSpPr>
          <p:nvPr>
            <p:ph idx="1"/>
          </p:nvPr>
        </p:nvSpPr>
        <p:spPr/>
        <p:txBody>
          <a:bodyPr/>
          <a:lstStyle/>
          <a:p>
            <a:r>
              <a:t>• Regional Sales Trends: North contributed 40% of total revenue</a:t>
            </a:r>
          </a:p>
          <a:p>
            <a:r>
              <a:t>• Product Analysis: Top 5 products accounted for 60% sales</a:t>
            </a:r>
          </a:p>
          <a:p>
            <a:r>
              <a:t>• Seasonal Trends: Q4 peak in sales across all regions</a:t>
            </a:r>
          </a:p>
          <a:p>
            <a:r>
              <a:t>• Customer Segmentation: High-value customers tend to buy electronics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EDA SQL Results</a:t>
            </a:r>
          </a:p>
        </p:txBody>
      </p:sp>
      <p:sp>
        <p:nvSpPr>
          <p:cNvPr id="3" name="Content Placeholder 2"/>
          <p:cNvSpPr>
            <a:spLocks noGrp="1"/>
          </p:cNvSpPr>
          <p:nvPr>
            <p:ph idx="1"/>
          </p:nvPr>
        </p:nvSpPr>
        <p:spPr/>
        <p:txBody>
          <a:bodyPr/>
          <a:lstStyle/>
          <a:p>
            <a:r>
              <a:t>Example Query: Identify top 5 regions by sales</a:t>
            </a:r>
          </a:p>
          <a:p/>
          <a:p>
            <a:r>
              <a:t>SELECT Region, SUM(Sales) AS Total_Sales</a:t>
            </a:r>
          </a:p>
          <a:p>
            <a:r>
              <a:t>FROM transactions</a:t>
            </a:r>
          </a:p>
          <a:p>
            <a:r>
              <a:t>GROUP BY Region</a:t>
            </a:r>
          </a:p>
          <a:p>
            <a:r>
              <a:t>ORDER BY Total_Sales DESC;</a:t>
            </a:r>
          </a:p>
          <a:p/>
          <a:p>
            <a:r>
              <a:t>Insight: North region leads with 40% contribution, followed by West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Interactive Map (Folium)</a:t>
            </a:r>
          </a:p>
        </p:txBody>
      </p:sp>
      <p:sp>
        <p:nvSpPr>
          <p:cNvPr id="3" name="Content Placeholder 2"/>
          <p:cNvSpPr>
            <a:spLocks noGrp="1"/>
          </p:cNvSpPr>
          <p:nvPr>
            <p:ph idx="1"/>
          </p:nvPr>
        </p:nvSpPr>
        <p:spPr/>
        <p:txBody>
          <a:bodyPr/>
          <a:lstStyle/>
          <a:p>
            <a:r>
              <a:t>• Created a Folium map plotting sales density across regions</a:t>
            </a:r>
          </a:p>
          <a:p>
            <a:r>
              <a:t>• North region markers show higher concentration</a:t>
            </a:r>
          </a:p>
          <a:p>
            <a:r>
              <a:t>• Interactive tooltips display total sales per region</a:t>
            </a:r>
          </a:p>
          <a:p>
            <a:r>
              <a:t>• Helped visualize geographic disparities in revenue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Plotly Dash Dashboard</a:t>
            </a:r>
          </a:p>
        </p:txBody>
      </p:sp>
      <p:sp>
        <p:nvSpPr>
          <p:cNvPr id="3" name="Content Placeholder 2"/>
          <p:cNvSpPr>
            <a:spLocks noGrp="1"/>
          </p:cNvSpPr>
          <p:nvPr>
            <p:ph idx="1"/>
          </p:nvPr>
        </p:nvSpPr>
        <p:spPr/>
        <p:txBody>
          <a:bodyPr/>
          <a:lstStyle/>
          <a:p>
            <a:r>
              <a:t>• Built an interactive dashboard with filters for product, region, and time</a:t>
            </a:r>
          </a:p>
          <a:p>
            <a:r>
              <a:t>• Visuals: Bar charts, line charts, KPIs</a:t>
            </a:r>
          </a:p>
          <a:p>
            <a:r>
              <a:t>• Features: Drill-down into regional sales trends</a:t>
            </a:r>
          </a:p>
          <a:p>
            <a:r>
              <a:t>• Benefit: Real-time decision support for managers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Predictive Analysis Results</a:t>
            </a:r>
          </a:p>
        </p:txBody>
      </p:sp>
      <p:sp>
        <p:nvSpPr>
          <p:cNvPr id="3" name="Content Placeholder 2"/>
          <p:cNvSpPr>
            <a:spLocks noGrp="1"/>
          </p:cNvSpPr>
          <p:nvPr>
            <p:ph idx="1"/>
          </p:nvPr>
        </p:nvSpPr>
        <p:spPr/>
        <p:txBody>
          <a:bodyPr/>
          <a:lstStyle/>
          <a:p>
            <a:r>
              <a:t>• Random Forest Classifier performance:</a:t>
            </a:r>
          </a:p>
          <a:p>
            <a:r>
              <a:t>   - Accuracy: 86%</a:t>
            </a:r>
          </a:p>
          <a:p>
            <a:r>
              <a:t>   - Precision: 0.83</a:t>
            </a:r>
          </a:p>
          <a:p>
            <a:r>
              <a:t>   - Recall: 0.79</a:t>
            </a:r>
          </a:p>
          <a:p>
            <a:r>
              <a:t>   - F1-score: 0.81</a:t>
            </a:r>
          </a:p>
          <a:p>
            <a:r>
              <a:t>• Confusion matrix showed balanced performance across classes</a:t>
            </a:r>
          </a:p>
          <a:p>
            <a:r>
              <a:t>• ROC-AUC score: 0.89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 Sales concentrated in North &amp; West regions</a:t>
            </a:r>
          </a:p>
          <a:p>
            <a:r>
              <a:t>• Seasonal spikes in Q4 sales</a:t>
            </a:r>
          </a:p>
          <a:p>
            <a:r>
              <a:t>• High-value customers linked to electronics purchases</a:t>
            </a:r>
          </a:p>
          <a:p>
            <a:r>
              <a:t>• Predictive model achieved 86% accuracy in identifying high-value customers</a:t>
            </a:r>
          </a:p>
          <a:p>
            <a:r>
              <a:t>• Insights can guide marketing and resource allocation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Creativity &amp; Insights</a:t>
            </a:r>
          </a:p>
        </p:txBody>
      </p:sp>
      <p:sp>
        <p:nvSpPr>
          <p:cNvPr id="3" name="Content Placeholder 2"/>
          <p:cNvSpPr>
            <a:spLocks noGrp="1"/>
          </p:cNvSpPr>
          <p:nvPr>
            <p:ph idx="1"/>
          </p:nvPr>
        </p:nvSpPr>
        <p:spPr/>
        <p:txBody>
          <a:bodyPr/>
          <a:lstStyle/>
          <a:p>
            <a:r>
              <a:t>• Used interactive Folium maps and Dash dashboards for advanced visualization</a:t>
            </a:r>
          </a:p>
          <a:p>
            <a:r>
              <a:t>• Applied predictive analytics for customer segmentation</a:t>
            </a:r>
          </a:p>
          <a:p>
            <a:r>
              <a:t>• Combined SQL + Python workflows for flexible analysis</a:t>
            </a:r>
          </a:p>
          <a:p>
            <a:r>
              <a:t>• Deliverables go beyond standard reporting, offering actionable insights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