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BD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EB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BD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EBB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0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Unlocking Insights: A Data Science Journey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Welcome to our exploration of advanced data analytics. This presentation outlines our comprehensive approach to transforming raw data into actionable insights, providing a deep dive into our methodologies and key findings.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56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Agenda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93790" y="1386840"/>
            <a:ext cx="764238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Our Data Science Roadmap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4357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2790825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296513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Executive Summary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793790" y="352651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High-level overview of our project goals and key achievements.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216962" y="24357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790825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5216962" y="2965133"/>
            <a:ext cx="398395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Methodology Deep Dive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216962" y="352651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Detailed look at our data handling, analysis, and modeling techniques.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640133" y="243578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790825"/>
            <a:ext cx="4196358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4" name="Text 12"/>
          <p:cNvSpPr/>
          <p:nvPr/>
        </p:nvSpPr>
        <p:spPr>
          <a:xfrm>
            <a:off x="9640133" y="2965133"/>
            <a:ext cx="4196358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Findings &amp; Visualizations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9640133" y="3951803"/>
            <a:ext cx="419635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Showcasing the results from our Exploratory Data Analysis, SQL queries, and interactive dashboards.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4373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792391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96669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Predictive Modeling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793790" y="652807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Unveiling the outcomes of our classification analysis and its implications.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428548" y="5437346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7428548" y="5792391"/>
            <a:ext cx="6407944" cy="30480"/>
          </a:xfrm>
          <a:prstGeom prst="rect">
            <a:avLst/>
          </a:prstGeom>
          <a:solidFill>
            <a:srgbClr val="D3C5B6"/>
          </a:solidFill>
          <a:ln/>
        </p:spPr>
      </p:sp>
      <p:sp>
        <p:nvSpPr>
          <p:cNvPr id="22" name="Text 20"/>
          <p:cNvSpPr/>
          <p:nvPr/>
        </p:nvSpPr>
        <p:spPr>
          <a:xfrm>
            <a:off x="7428548" y="5966698"/>
            <a:ext cx="40906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 &amp; Next Steps</a:t>
            </a:r>
            <a:endParaRPr lang="en-US" sz="2650" dirty="0"/>
          </a:p>
        </p:txBody>
      </p:sp>
      <p:sp>
        <p:nvSpPr>
          <p:cNvPr id="23" name="Text 21"/>
          <p:cNvSpPr/>
          <p:nvPr/>
        </p:nvSpPr>
        <p:spPr>
          <a:xfrm>
            <a:off x="7428548" y="6528078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Summarizing our journey and outlining future directions.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257" y="578168"/>
            <a:ext cx="12100084" cy="6421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Executive Summary: Bridging Data to Decisions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9257" y="1713428"/>
            <a:ext cx="7029926" cy="1314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successfully leveraged a multi-faceted data science approach to extract meaningful insights from complex datasets. We integrated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advanced data wrangling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exploratory analytics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and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predictive modeling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to uncover hidden patterns and inform strategic decisions.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9257" y="3213259"/>
            <a:ext cx="70299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Streamlined data pipelines for efficiency.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9257" y="3613904"/>
            <a:ext cx="70299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intuitive interactive dashboards for stakeholder engagement.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19257" y="4014549"/>
            <a:ext cx="7029926" cy="328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Achieved high accuracy in predictive classification tasks.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8056" y="1759625"/>
            <a:ext cx="5660588" cy="56605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328" y="724614"/>
            <a:ext cx="7617381" cy="638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Our Methodological Backbone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15328" y="1772126"/>
            <a:ext cx="4263628" cy="5732740"/>
          </a:xfrm>
          <a:prstGeom prst="roundRect">
            <a:avLst>
              <a:gd name="adj" fmla="val 719"/>
            </a:avLst>
          </a:prstGeom>
          <a:solidFill>
            <a:srgbClr val="DECEBB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5328" y="1772126"/>
            <a:ext cx="91440" cy="5732740"/>
          </a:xfrm>
          <a:prstGeom prst="roundRect">
            <a:avLst>
              <a:gd name="adj" fmla="val 33529"/>
            </a:avLst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1033939" y="1999298"/>
            <a:ext cx="3591758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 Collection &amp; Wrangling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33939" y="2441138"/>
            <a:ext cx="3717846" cy="196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employed robust methods for collecting diverse data sources, followed by rigorous cleaning, transformation, and normalization. This ensures data quality and consistency, forming a solid foundation for analysis.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33939" y="4526042"/>
            <a:ext cx="371784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data ingestion from various APIs and databases.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33939" y="5251609"/>
            <a:ext cx="3717846" cy="981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Handled missing values and outliers with advanced imputation techniques.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3939" y="6304240"/>
            <a:ext cx="371784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Feature engineering to create impactful variables for modeling.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3267" y="1772126"/>
            <a:ext cx="4263747" cy="5732740"/>
          </a:xfrm>
          <a:prstGeom prst="roundRect">
            <a:avLst>
              <a:gd name="adj" fmla="val 719"/>
            </a:avLst>
          </a:prstGeom>
          <a:solidFill>
            <a:srgbClr val="DECEBB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83267" y="1772126"/>
            <a:ext cx="91440" cy="5732740"/>
          </a:xfrm>
          <a:prstGeom prst="roundRect">
            <a:avLst>
              <a:gd name="adj" fmla="val 33529"/>
            </a:avLst>
          </a:prstGeom>
          <a:solidFill>
            <a:srgbClr val="D3C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501878" y="1999298"/>
            <a:ext cx="3717965" cy="638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EDA &amp; Interactive Visual Analytics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501878" y="2760464"/>
            <a:ext cx="3717965" cy="2289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Exploratory Data Analysis (EDA) focused on understanding data distributions, relationships, and anomalies. We used interactive visualization tools to allow dynamic exploration and rapid insight generation, fostering collaborative discovery.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01878" y="5172432"/>
            <a:ext cx="371796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key trends and correlations through statistical tests.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01878" y="5897999"/>
            <a:ext cx="371796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Developed custom dashboards for real-time data exploration.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01878" y="6623566"/>
            <a:ext cx="3717965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Enabled drill-down capabilities for granular insights.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51325" y="1772126"/>
            <a:ext cx="4263628" cy="5732740"/>
          </a:xfrm>
          <a:prstGeom prst="roundRect">
            <a:avLst>
              <a:gd name="adj" fmla="val 719"/>
            </a:avLst>
          </a:prstGeom>
          <a:solidFill>
            <a:srgbClr val="DECEBB"/>
          </a:solidFill>
          <a:ln w="22860">
            <a:solidFill>
              <a:srgbClr val="D4CEC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51325" y="1772126"/>
            <a:ext cx="91440" cy="5732740"/>
          </a:xfrm>
          <a:prstGeom prst="roundRect">
            <a:avLst>
              <a:gd name="adj" fmla="val 33529"/>
            </a:avLst>
          </a:prstGeom>
          <a:solidFill>
            <a:srgbClr val="D3C5B6"/>
          </a:solidFill>
          <a:ln/>
        </p:spPr>
      </p:sp>
      <p:sp>
        <p:nvSpPr>
          <p:cNvPr id="19" name="Text 17"/>
          <p:cNvSpPr/>
          <p:nvPr/>
        </p:nvSpPr>
        <p:spPr>
          <a:xfrm>
            <a:off x="9969937" y="1999298"/>
            <a:ext cx="2554843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Predictive Analysis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969937" y="2441138"/>
            <a:ext cx="3717846" cy="1962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Leveraging cleansed and understood data, we built and validated predictive models. Our focus was on classification tasks, employing state-of-the-art algorithms to forecast outcomes with high precision and recall.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69937" y="4526042"/>
            <a:ext cx="371784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Utilized ensemble methods for enhanced prediction accuracy.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969937" y="5251609"/>
            <a:ext cx="371784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Implemented cross-validation to ensure model generalization.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69937" y="5977176"/>
            <a:ext cx="3717846" cy="65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Interpreted model outputs to explain prediction drivers.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802" y="402908"/>
            <a:ext cx="6778823" cy="457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EDA Results: Unveiling Data Patterns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802" y="1153716"/>
            <a:ext cx="13604796" cy="76185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802" y="8937069"/>
            <a:ext cx="13604796" cy="468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Exploratory Data Analysis (EDA) using Matplotlib and Plotly revealed compelling insights into the dataset's distribution. As seen in the chart, 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Category C consistently exhibits the highest frequency</a:t>
            </a:r>
            <a:pPr algn="l"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, suggesting it's a dominant feature within our data. This distribution will significantly influence subsequent modeling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954" y="611267"/>
            <a:ext cx="13074491" cy="1389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SQL Results: Precision Querying for Key Findings</a:t>
            </a:r>
            <a:endParaRPr lang="en-US" sz="4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54" y="2584133"/>
            <a:ext cx="4904423" cy="4904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2208" y="2534126"/>
            <a:ext cx="7627739" cy="1422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Through targeted SQL queries, we extracted critical metrics and identified specific data subsets crucial for our analysis. For instance, a query on customer transaction data highlighted that 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customers in the "Premium" tier showed a 25% higher average purchase value</a:t>
            </a:r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compared to other segments.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565583" y="4206716"/>
            <a:ext cx="7294364" cy="71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"Leveraging SQL allowed us to precisely isolate and understand specific data relationships that would have been obscured in aggregated views."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232208" y="4206716"/>
            <a:ext cx="30480" cy="711279"/>
          </a:xfrm>
          <a:prstGeom prst="rect">
            <a:avLst/>
          </a:prstGeom>
          <a:solidFill>
            <a:srgbClr val="D3C5B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3534"/>
            <a:ext cx="89006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Geospatial Insights with Folium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124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Folium proved invaluable for visualizing the geographical distribution of our data. We identified significant clusters of activity in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urban centers on the East Coast and specific industrial zones in the Midwest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. This spatial understanding can inform localized strategies and resource allocation, optimizing our outreach efforts.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2093" y="433864"/>
            <a:ext cx="7832408" cy="493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Interactive Dashboards with Plotly Dash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093" y="1340882"/>
            <a:ext cx="7961709" cy="79617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906232" y="1305401"/>
            <a:ext cx="5179576" cy="126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Our Plotly Dash dashboard provides an intuitive, interactive interface for stakeholders to explore the data independently. Users can filter by time period, demographic, and product type, gaining real-time insights into performance metrics. This empowers data-driven decision-making across departments.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906232" y="2709386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include: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906232" y="3103721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Dynamic filtering and drill-down capabilities.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06232" y="3411260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updates from underlying data sources.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906232" y="3718798"/>
            <a:ext cx="5179576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Exportable reports for further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2790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Predictive Analysis: Classifying Future Outcomes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99090"/>
            <a:ext cx="13042821" cy="3702606"/>
          </a:xfrm>
          <a:prstGeom prst="roundRect">
            <a:avLst>
              <a:gd name="adj" fmla="val 919"/>
            </a:avLst>
          </a:prstGeom>
          <a:solidFill>
            <a:srgbClr val="EEE8DD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3199090"/>
            <a:ext cx="6521410" cy="2032754"/>
          </a:xfrm>
          <a:prstGeom prst="roundRect">
            <a:avLst>
              <a:gd name="adj" fmla="val 1674"/>
            </a:avLst>
          </a:prstGeom>
          <a:solidFill>
            <a:srgbClr val="EEE8DD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425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916323"/>
            <a:ext cx="57276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We deployed a RandomForest Classifier for its robustness and interpretability in predicting customer churn.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315200" y="3199090"/>
            <a:ext cx="6521410" cy="2032754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199090"/>
            <a:ext cx="30480" cy="2032754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9" name="Text 7"/>
          <p:cNvSpPr/>
          <p:nvPr/>
        </p:nvSpPr>
        <p:spPr>
          <a:xfrm>
            <a:off x="7882176" y="34259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882176" y="3916323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Achieved an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D3C5B6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accuracy of 88%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and an F1-score of 0.85 on unseen data.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031712" y="3931920"/>
            <a:ext cx="566976" cy="566976"/>
          </a:xfrm>
          <a:prstGeom prst="roundRect">
            <a:avLst>
              <a:gd name="adj" fmla="val 6001"/>
            </a:avLst>
          </a:prstGeom>
          <a:solidFill>
            <a:srgbClr val="DECEBB"/>
          </a:solidFill>
          <a:ln w="30480">
            <a:solidFill>
              <a:srgbClr val="D4CEC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3397" y="4038243"/>
            <a:ext cx="283488" cy="3543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93790" y="5231844"/>
            <a:ext cx="6521410" cy="1669852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4" name="Shape 11"/>
          <p:cNvSpPr/>
          <p:nvPr/>
        </p:nvSpPr>
        <p:spPr>
          <a:xfrm>
            <a:off x="793790" y="523184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5" name="Text 12"/>
          <p:cNvSpPr/>
          <p:nvPr/>
        </p:nvSpPr>
        <p:spPr>
          <a:xfrm>
            <a:off x="1020604" y="5458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020604" y="5949077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Top predictors for churn included contract duration and customer service interactions.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7315200" y="5231844"/>
            <a:ext cx="6521410" cy="1669852"/>
          </a:xfrm>
          <a:prstGeom prst="rect">
            <a:avLst/>
          </a:prstGeom>
          <a:solidFill>
            <a:srgbClr val="EEE8DD"/>
          </a:solidFill>
          <a:ln/>
        </p:spPr>
      </p:sp>
      <p:sp>
        <p:nvSpPr>
          <p:cNvPr id="18" name="Shape 15"/>
          <p:cNvSpPr/>
          <p:nvPr/>
        </p:nvSpPr>
        <p:spPr>
          <a:xfrm>
            <a:off x="7315200" y="5231844"/>
            <a:ext cx="30480" cy="1669852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19" name="Shape 16"/>
          <p:cNvSpPr/>
          <p:nvPr/>
        </p:nvSpPr>
        <p:spPr>
          <a:xfrm>
            <a:off x="7315200" y="5231844"/>
            <a:ext cx="6521410" cy="30480"/>
          </a:xfrm>
          <a:prstGeom prst="roundRect">
            <a:avLst>
              <a:gd name="adj" fmla="val 111628"/>
            </a:avLst>
          </a:prstGeom>
          <a:solidFill>
            <a:srgbClr val="D4CEC3"/>
          </a:solidFill>
          <a:ln/>
        </p:spPr>
      </p:sp>
      <p:sp>
        <p:nvSpPr>
          <p:cNvPr id="20" name="Text 17"/>
          <p:cNvSpPr/>
          <p:nvPr/>
        </p:nvSpPr>
        <p:spPr>
          <a:xfrm>
            <a:off x="7882176" y="5458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Implications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7882176" y="5949077"/>
            <a:ext cx="57276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Enables proactive intervention for at-risk customers, potentially reducing churn by 15%.</a:t>
            </a:r>
            <a:endParaRPr lang="en-US" sz="1750" dirty="0"/>
          </a:p>
        </p:txBody>
      </p:sp>
      <p:sp>
        <p:nvSpPr>
          <p:cNvPr id="22" name="Shape 19"/>
          <p:cNvSpPr/>
          <p:nvPr/>
        </p:nvSpPr>
        <p:spPr>
          <a:xfrm>
            <a:off x="7031712" y="5783223"/>
            <a:ext cx="566976" cy="566976"/>
          </a:xfrm>
          <a:prstGeom prst="roundRect">
            <a:avLst>
              <a:gd name="adj" fmla="val 6001"/>
            </a:avLst>
          </a:prstGeom>
          <a:solidFill>
            <a:srgbClr val="DECEBB"/>
          </a:solidFill>
          <a:ln w="30480">
            <a:solidFill>
              <a:srgbClr val="D4CEC3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397" y="5889546"/>
            <a:ext cx="283488" cy="3543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32516"/>
            <a:ext cx="126919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Conclusion &amp; Next Steps: Charting the Future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308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894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Comprehensive data wrangling ensures high data quality.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316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Visual analytics drive intuitive insights.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738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Predictive models provide actionable foresight.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308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88941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Integrate real-time data streams into the dashboard.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331613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Expand predictive modeling to include demand forecasting.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1367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 report generation for routine monitoring.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58340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 for your time. We welcome your questions and further collaboration.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2025-08-29T15:56:00Z</dcterms:created>
  <dcterms:modified xsi:type="dcterms:W3CDTF">2025-08-29T15:56:00Z</dcterms:modified>
</cp:coreProperties>
</file>